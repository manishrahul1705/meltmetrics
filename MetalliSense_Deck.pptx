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Confidence score weights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7A18"/>
              </a:solidFill>
              <a:ln w="12700" cap="flat">
                <a:solidFill>
                  <a:srgbClr val="15181D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B020"/>
              </a:solidFill>
              <a:ln w="12700" cap="flat">
                <a:solidFill>
                  <a:srgbClr val="15181D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A4B14"/>
              </a:solidFill>
              <a:ln w="12700" cap="flat">
                <a:solidFill>
                  <a:srgbClr val="15181D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Addition size</c:v>
                </c:pt>
                <c:pt idx="1">
                  <c:v>No. of corrections</c:v>
                </c:pt>
                <c:pt idx="2">
                  <c:v>Total deviation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3AB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Composite weights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FF7A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Added CO₂</c:v>
                  </c:pt>
                  <c:pt idx="1">
                    <c:v>Spec compliance</c:v>
                  </c:pt>
                  <c:pt idx="2">
                    <c:v>Correction cost</c:v>
                  </c:pt>
                  <c:pt idx="3">
                    <c:v>Predicted reward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25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3AB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HistGradientBoostingClassifier, one per grade, features C Si Mn P S, trained on is_deviated labels in dataset.csv. If risk stays &gt;= 50% after the Melt Correction Planner's additions, the gate holds: the charge must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502920"/>
            <a:ext cx="4663440" cy="36410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MELT-SHOP INTELLIGENCE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METALLI</a:t>
            </a:r>
            <a:pPr indent="0" marL="0">
              <a:buNone/>
            </a:pPr>
            <a:r>
              <a:rPr lang="en-US" sz="3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raw-material problems at the gate, not in the furnace — then correct every heat with explainable, self-improving AI.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Pre-Melt Gate  ·  Deviation Analysis  ·  Correction Planner  ·  Adaptive Strategy Optimizer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are found after the metal is melted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charge shows up only at the first spectrometer reading — energy, time and metal are already spent.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97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induction furnace cannot remove excess Cu, Cr, P or S. Only a different charge fixes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₹21,000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TONNE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6974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an SG-iron heat is downgraded to grey iron (illustrative selling prices).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heat, one flow: from truck to tap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261872" cy="2103120"/>
          </a:xfrm>
          <a:prstGeom prst="roundRect">
            <a:avLst>
              <a:gd name="adj" fmla="val 579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16916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8233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3774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 Stock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803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+ ledger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700784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856232" y="1463040"/>
            <a:ext cx="1261872" cy="2103120"/>
          </a:xfrm>
          <a:prstGeom prst="roundRect">
            <a:avLst>
              <a:gd name="adj" fmla="val 579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12848" y="16916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22" y="18233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47672" y="23774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 Inspection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947672" y="28803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XRF / LIBS gun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099816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255264" y="1463040"/>
            <a:ext cx="1261872" cy="2103120"/>
          </a:xfrm>
          <a:prstGeom prst="roundRect">
            <a:avLst>
              <a:gd name="adj" fmla="val 579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11880" y="16916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554" y="18233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346704" y="23774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 QA Lab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346704" y="28803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Maker–checker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498848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4654296" y="1463040"/>
            <a:ext cx="1261872" cy="2103120"/>
          </a:xfrm>
          <a:prstGeom prst="roundRect">
            <a:avLst>
              <a:gd name="adj" fmla="val 5797"/>
            </a:avLst>
          </a:prstGeom>
          <a:solidFill>
            <a:srgbClr val="2A1608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10912" y="16916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86" y="182331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745736" y="23774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Pre-Melt Gate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745736" y="28803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WARN / HOLD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897880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6053328" y="1463040"/>
            <a:ext cx="1261872" cy="2103120"/>
          </a:xfrm>
          <a:prstGeom prst="roundRect">
            <a:avLst>
              <a:gd name="adj" fmla="val 579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09944" y="16916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18" y="1823314"/>
            <a:ext cx="285293" cy="28529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144768" y="23774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AI stages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6144768" y="28803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→ Correction → Strategy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7296912" y="22860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7452360" y="1463040"/>
            <a:ext cx="1261872" cy="2103120"/>
          </a:xfrm>
          <a:prstGeom prst="roundRect">
            <a:avLst>
              <a:gd name="adj" fmla="val 5797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808976" y="16916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0650" y="1823314"/>
            <a:ext cx="285293" cy="285293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543800" y="237744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approval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7543800" y="2880360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properties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unlocks the next. The gate's predicted melt-down chemistry flows automatically into the AI stages — no retyping, no synthetic data.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 · YARD INSPECTION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lot is trusted before it is charged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 trust (1σ)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declared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8288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58568"/>
            <a:ext cx="347472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 certificate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331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761488"/>
            <a:ext cx="347472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lab (approved)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834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264408"/>
            <a:ext cx="347472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heat OES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767328"/>
            <a:ext cx="3474720" cy="0"/>
          </a:xfrm>
          <a:prstGeom prst="line">
            <a:avLst/>
          </a:prstGeom>
          <a:noFill/>
          <a:ln w="9525">
            <a:solidFill>
              <a:srgbClr val="2A2F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gun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527048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3949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 decision (400-piece hidden load)</a:t>
            </a:r>
            <a:endParaRPr lang="en-US" sz="13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0312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30352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stainless piece, ≥ 20% alloy or ≥ 10% copper → QUARANTINED</a:t>
            </a:r>
            <a:endParaRPr lang="en-US" sz="12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706624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03520" y="26609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copper or alloy pieces → RESTRICTED (max 20–25% of charge)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1012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303520" y="3264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 reliable readings (paint, oil, rust) → clean and re-test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91363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303520" y="38679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flagged → RELEASED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 QA LAB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Sponge iron needs a second signature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27048"/>
            <a:ext cx="512064" cy="512064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649943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entry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total, Fe metallic, C, P, S (+ gangue, moisture, fines)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404872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606040"/>
            <a:ext cx="512064" cy="512064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72893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2862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limits reject; unusual values need confirmation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483864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685032"/>
            <a:ext cx="512064" cy="512064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807927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6210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approver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39410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 as analyst → refused (403)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0" y="1325880"/>
            <a:ext cx="4114800" cy="3072384"/>
          </a:xfrm>
          <a:prstGeom prst="roundRect">
            <a:avLst>
              <a:gd name="adj" fmla="val 2381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8006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rules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874520"/>
          <a:ext cx="36576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731520"/>
                <a:gridCol w="1005840"/>
                <a:gridCol w="896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80–85% (25%)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0.08% (25%)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Sulphur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0.05%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</a:tbl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480060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Metallization = Fe metallic ÷ Fe total. Moisture &gt; 1% or a result older than 7 days raises a gate warning.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FURNACE INTERLOCK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Pre-Melt Gate: 8 checks, one decision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26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71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weight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9192" y="1426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090672" y="1371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release 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2801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64024" y="1426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175504" y="1371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11696" y="12801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48856" y="1426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260336" y="1371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XRF / LIBS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340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2860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Sponge-iron lab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42032" y="21945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9192" y="2340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090672" y="22860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chemistry vs grade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26864" y="21945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64024" y="2340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175504" y="22860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Cu Cr Ni Mo Sn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11696" y="219456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48856" y="23408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260336" y="22860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off-spec risk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D2127"/>
          </a:solidFill>
          <a:ln w="9525">
            <a:solidFill>
              <a:srgbClr val="2A2F37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474720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4300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3931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 — furnace may start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3246120" y="3291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D2127"/>
          </a:solidFill>
          <a:ln w="9525">
            <a:solidFill>
              <a:srgbClr val="2A2F37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3474720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93192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</a:t>
            </a:r>
            <a:endParaRPr lang="en-US" sz="2200" dirty="0"/>
          </a:p>
        </p:txBody>
      </p:sp>
      <p:sp>
        <p:nvSpPr>
          <p:cNvPr id="36" name="Text 32"/>
          <p:cNvSpPr txBox="1"/>
          <p:nvPr/>
        </p:nvSpPr>
        <p:spPr>
          <a:xfrm>
            <a:off x="3447288" y="3931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must tick the warnings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035040" y="32918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D2127"/>
          </a:solidFill>
          <a:ln w="9525">
            <a:solidFill>
              <a:srgbClr val="2A2F37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474720"/>
            <a:ext cx="365760" cy="36576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72084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4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6236208" y="3931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— engineer override + written reason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MELT-DOWN CHEMISTRY · AI RISK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the melt before it exists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→ bath chemistry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3794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weight: kg × yield (scrap 95%, pig iron 97%, returns 98%; DRI from its lab result)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value: metal-weighted average × melt recovery (C 96%, Si 95%, Mn 93%)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each lot's trust level combined + 2% process variation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is the balance; each element traced to the lot it came from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3898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0.95–0.97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389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AUC, per grade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37744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24871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48716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samples inside 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4747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35844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passes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5844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and after additions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STAGE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Deviation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947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contamination 0.35, trained on 200,000 heats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features: 6 elements + deviation from spec midpoint + out-of-range flag per element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isolation path = abnormal; score rescaled to 0–1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unlocks the Melt Correction Planner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49240" y="1783080"/>
            <a:ext cx="3337560" cy="73152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32120" y="2029968"/>
            <a:ext cx="237744" cy="237744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189280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189280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– 0.33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49240" y="2679192"/>
            <a:ext cx="3337560" cy="73152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2120" y="2926080"/>
            <a:ext cx="237744" cy="237744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0" y="278892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27889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 – 0.66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349240" y="3575304"/>
            <a:ext cx="3337560" cy="73152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32120" y="3822192"/>
            <a:ext cx="237744" cy="237744"/>
          </a:xfrm>
          <a:prstGeom prst="ellipse">
            <a:avLst/>
          </a:prstGeom>
          <a:solidFill>
            <a:srgbClr val="F0484E"/>
          </a:solidFill>
          <a:ln w="12700">
            <a:solidFill>
              <a:srgbClr val="F0484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0" y="368503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4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68503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 – 1.00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STAGE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 Correction Planner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947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Multi-output gradient boosting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gap to grade midpoint, additions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regressor per element (100 trees, depth 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Caps: 5% per element; in-spec heats get no additions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Too-high elements → dilution warning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converted to kg of in-stock FeSi-75, HC FeMn, recarburiser (FIFO)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83480" y="1280160"/>
            <a:ext cx="370332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5074920" y="1371600"/>
          <a:ext cx="35204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STAGE 3 · ONLINE REINFORCEMENT LEARNING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Strategy Optimizer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0.3×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additions, lowest overshoot risk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A1608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1.0×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correction, best trade-off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2.0×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Over-corrects, fastest pull into spec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310128"/>
            <a:ext cx="548640" cy="548640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3441802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1732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reward model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58444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regressor scores each (deviation, grade, additions) pair and is updated after every operator decision — no retraining pipeline.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= outcome bonus + measured improvement − 0.05 × weighted cost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37673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+0.4 · Modified 0 · Rejected −0.6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clip: C, Si ≤ 1.5%, Mn ≤ 1.0%, total ≤ 6%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COMPARISON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strategy: the composite score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00600" y="128016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82880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normalised across the 3 strategies (best = 1)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FAIL costs 0.5 on spec compliance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points per constraint violation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marks the best per metric and 'Best overall'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one → the other two lock; stock is deducted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· CARBON · PROPERTIES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strategy priced, weighed and tested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6448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51760"/>
            <a:ext cx="1554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metal ₹/kg × batch + element kg × alloy price + strategy premium (₹800 / 4,300 / 11,300)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42032" y="128016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70632" y="150876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695" y="16448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70632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770632" y="2651760"/>
            <a:ext cx="1554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factor × batch + element kg × CO₂ factor (FeSi 4.0, FeMn 2.8 kg CO₂e/kg)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26864" y="128016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5464" y="150876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527" y="164482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55464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55464" y="2651760"/>
            <a:ext cx="1554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loss per tonne − correction cost; shown as % of selling price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711696" y="128016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40296" y="150876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359" y="164482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40296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940296" y="2651760"/>
            <a:ext cx="1554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UTS, YS, elongation, HB from C Si Mn P S, checked against IS 2062, 1570, 210, 1865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· VOICE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hands-free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14619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copilot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276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(switchable to Claude or Gemini) turns every result into plain-language reasoning and operator guidance.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14884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83" y="22849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questions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4505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large-v3 transcribes the operator's spoken question.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97180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3" y="310786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aloud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32735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multilingual voice reads the gate decision and strategy comparison; gTTS and browser voice as fallbacks.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3794760"/>
            <a:ext cx="566928" cy="566928"/>
          </a:xfrm>
          <a:prstGeom prst="ellipse">
            <a:avLst/>
          </a:prstGeom>
          <a:solidFill>
            <a:srgbClr val="2A1608"/>
          </a:solidFill>
          <a:ln w="9525">
            <a:solidFill>
              <a:srgbClr val="5A2E0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3" y="393082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memory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40965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past heats found by meaning, via vector search.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five independent services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2834640"/>
                <a:gridCol w="28346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7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Vite, Tailwind, Recharts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screens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Express, node-opcua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API, gate engine, cost,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+ correction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Groq, ElevenLabs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RL, risk model, copilot,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Actian VectorAI / NumPy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 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B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4334 · 4335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node-opcua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3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Spectrometer + gun simulators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 and what comes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15181D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today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synthetic data; prices and limits illustrative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 samples pieces and can miss one — spectrometer check stays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guns export CSV/Bluetooth; simulator uses OPC UA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memory; restart resets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2A1608"/>
          </a:solidFill>
          <a:ln w="9525">
            <a:solidFill>
              <a:srgbClr val="2A2F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gate on every mid-melt addition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actual charged kg at the bucket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gate vs spectrometer error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a database; plant-specific limits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640080"/>
            <a:ext cx="4206240" cy="32841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at the gate —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7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furnace.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MetalliSense · AI melt-shop intelligence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MetalliSense</dc:title>
  <dc:subject>PptxGenJS Presentation</dc:subject>
  <dc:creator>PptxGenJS</dc:creator>
  <cp:lastModifiedBy>PptxGenJS</cp:lastModifiedBy>
  <cp:revision>1</cp:revision>
  <dcterms:created xsi:type="dcterms:W3CDTF">2026-09-25T04:05:47Z</dcterms:created>
  <dcterms:modified xsi:type="dcterms:W3CDTF">2026-09-25T04:05:47Z</dcterms:modified>
</cp:coreProperties>
</file>